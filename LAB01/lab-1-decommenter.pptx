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3" r:id="rId4"/>
  </p:sldMasterIdLst>
  <p:notesMasterIdLst>
    <p:notesMasterId r:id="rId22"/>
  </p:notesMasterIdLst>
  <p:sldIdLst>
    <p:sldId id="282" r:id="rId5"/>
    <p:sldId id="316" r:id="rId6"/>
    <p:sldId id="327" r:id="rId7"/>
    <p:sldId id="317" r:id="rId8"/>
    <p:sldId id="328" r:id="rId9"/>
    <p:sldId id="334" r:id="rId10"/>
    <p:sldId id="319" r:id="rId11"/>
    <p:sldId id="320" r:id="rId12"/>
    <p:sldId id="321" r:id="rId13"/>
    <p:sldId id="322" r:id="rId14"/>
    <p:sldId id="323" r:id="rId15"/>
    <p:sldId id="324" r:id="rId16"/>
    <p:sldId id="333" r:id="rId17"/>
    <p:sldId id="331" r:id="rId18"/>
    <p:sldId id="329" r:id="rId19"/>
    <p:sldId id="330" r:id="rId20"/>
    <p:sldId id="332" r:id="rId21"/>
  </p:sldIdLst>
  <p:sldSz cx="12192000" cy="6858000"/>
  <p:notesSz cx="6858000" cy="9144000"/>
  <p:embeddedFontLst>
    <p:embeddedFont>
      <p:font typeface="Bahnschrift" panose="020B0502040204020203" pitchFamily="34" charset="0"/>
      <p:regular r:id="rId23"/>
      <p:bold r:id="rId24"/>
    </p:embeddedFont>
    <p:embeddedFont>
      <p:font typeface="Bahnschrift Light" panose="020B0502040204020203" pitchFamily="34" charset="0"/>
      <p:regular r:id="rId25"/>
    </p:embeddedFont>
    <p:embeddedFont>
      <p:font typeface="나눔바른고딕" panose="020B0603020101020101" pitchFamily="50" charset="-127"/>
      <p:regular r:id="rId26"/>
      <p:bold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F8E180"/>
    <a:srgbClr val="F4D13E"/>
    <a:srgbClr val="F58F8F"/>
    <a:srgbClr val="FFCC00"/>
    <a:srgbClr val="FFFFFF"/>
    <a:srgbClr val="E2FFE2"/>
    <a:srgbClr val="FFE2DF"/>
    <a:srgbClr val="C00000"/>
    <a:srgbClr val="B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6" autoAdjust="0"/>
    <p:restoredTop sz="66466" autoAdjust="0"/>
  </p:normalViewPr>
  <p:slideViewPr>
    <p:cSldViewPr snapToGrid="0">
      <p:cViewPr varScale="1">
        <p:scale>
          <a:sx n="64" d="100"/>
          <a:sy n="64" d="100"/>
        </p:scale>
        <p:origin x="72" y="11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96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D94AF-96EB-487C-B939-6CE2DFBD4DC7}" type="datetimeFigureOut">
              <a:rPr lang="ko-KR" altLang="en-US" smtClean="0"/>
              <a:t>2025-03-07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154FB-B7D0-4F76-BDDE-18AD8868F6C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932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1463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7944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3B200-ED85-72B1-6DA8-A153395A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50FB23-69F5-D674-7957-78BDC0488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F83DB8-D34E-9E6E-EA23-D28974F28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36E608-4B71-EEDF-5786-30E0E979B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0778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CCFB-B6FC-5F3A-A80C-124DAC8D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9D4282-85C4-967A-C504-C019EE925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691C2E-617B-8182-62A0-012962952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A09E3D-67A2-3A5F-5202-F02B4FABF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9943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6A6B-CFB1-5917-37AE-D7455F4E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A9678-6BC1-401F-BDF9-80EA0FA5F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DCD910-626F-9189-A3CD-505FA47FF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17D39-C312-5F8A-1971-5A002E9D6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7368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6A6B-CFB1-5917-37AE-D7455F4E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1A9678-6BC1-401F-BDF9-80EA0FA5F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DCD910-626F-9189-A3CD-505FA47FF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17D39-C312-5F8A-1971-5A002E9D6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6417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645DC-A640-2AA3-87F1-998AE718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46A70C-2E80-3BA9-9725-D79556825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C8642E-A3C7-C01C-D58B-5929E4371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>
              <a:latin typeface="+mn-ea"/>
              <a:ea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F6BBD6-8000-776B-8A19-9C4791CFA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9756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640F-3B40-BE2A-F98C-2933F4A8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CFCDD7-7878-6900-17B6-F5B0B978F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D6CA12-1717-96E3-E117-A55608966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96754E-CA01-F44F-0E53-BDABC976B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1996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83F9-0855-4707-50CC-4102420F8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43623B-2999-270C-DFF1-E6984AD30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0D205F-0086-5897-7394-3DEF90545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C8AED2-09C3-C5F3-4F0B-AA45C501C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2504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3E48-AADA-EB78-09EE-178D5AD2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7A7319-9E1B-3C6D-9C82-47EB2CEC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461770-9689-BC8B-63DD-05C34872A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C089A4-9F40-7E85-AA97-50F94095D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0959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A6976-C98D-ED91-5821-4DAAA9CA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5161D0-97CF-ECE8-AFEE-30C4DB06A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7F129B-A6C5-62AC-04C7-77353CA22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5BA23-9BA6-D0DD-5E97-B6BDE695C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0428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758C-4AAD-DF46-E8F0-2A013FFD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4B6F1B-D19B-03DD-7E16-71B47DD4B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279BB-8895-2F50-A847-ADAA7ED66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B3D2C1-4261-1619-936C-A3F6996FD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9157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148F5-FC51-ED74-3AD6-8725674C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236C42-3DF1-077E-AC18-56013D0A2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C69230-B3A2-7404-3902-0DDEC6657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722F3-800F-5DAA-C0FC-B6F1BE4E4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50482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E25E2-6361-7BEA-F0BC-F4CC398D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CF7B9-386B-6A41-CD2A-3E41530B1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5D9E3-BAC3-87CE-911E-33D13B503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214639-58D1-622E-BBF8-08AC9D0C0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2694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A0F2-DE62-33AB-C552-666B5BF3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FC7D95-B52E-DFC7-471B-AD2FB3A5F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26A15C-B248-8424-3988-A26BCA4B0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CA1562-A5C6-4711-7585-691CFAB90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4156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D1AD1-BDE7-8138-2CFB-2C9C674F8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6A05CA-E6AE-B3C0-8798-B0FDD599E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D36C89-2A34-9A74-E97F-431C71E2C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8921E-7149-FEAD-1954-1717A3426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570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E81C3-2486-6A38-02DC-3777742E2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10F484-6F27-A03B-243A-D0153D9F7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F6731B-FF57-C1D4-456B-8579EB10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F65B2-BB85-67BB-244E-D8A61ACED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154FB-B7D0-4F76-BDDE-18AD8868F6C3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8811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A512A-69A6-4B6F-8AAB-BBC9E3F81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Bahnschrift" panose="020B0502040204020203" pitchFamily="34" charset="0"/>
                <a:ea typeface="나눔바른고딕" panose="020B0603020101020101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E287C8-CB7D-4124-B935-6DFACC3FF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3304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Bahnschrift Light" panose="020B0502040204020203" pitchFamily="34" charset="0"/>
                <a:ea typeface="나눔바른고딕 Light" panose="020B0603020101020101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78188-48EC-4439-823E-ADEBB7EC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16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C24D4D0E-B991-487F-B051-7F83A85C8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3200" baseline="0">
                <a:solidFill>
                  <a:srgbClr val="002060"/>
                </a:solidFill>
                <a:latin typeface="Bahnschrift" panose="020B0502040204020203" pitchFamily="34" charset="0"/>
                <a:ea typeface="나눔바른고딕" panose="020B0603020101020101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7">
            <a:extLst>
              <a:ext uri="{FF2B5EF4-FFF2-40B4-BE49-F238E27FC236}">
                <a16:creationId xmlns:a16="http://schemas.microsoft.com/office/drawing/2014/main" id="{A2BF3651-139C-4C2A-B50C-F1D08E6D06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baseline="0">
                <a:latin typeface="Bahnschrift" panose="020B0502040204020203" pitchFamily="34" charset="0"/>
                <a:ea typeface="나눔바른고딕" panose="020B0603020101020101"/>
              </a:defRPr>
            </a:lvl1pPr>
            <a:lvl2pPr>
              <a:defRPr sz="2000" baseline="0">
                <a:latin typeface="Bahnschrift" panose="020B0502040204020203" pitchFamily="34" charset="0"/>
                <a:ea typeface="나눔바른고딕" panose="020B0603020101020101"/>
              </a:defRPr>
            </a:lvl2pPr>
            <a:lvl3pPr>
              <a:defRPr sz="1800" baseline="0">
                <a:latin typeface="Bahnschrift" panose="020B0502040204020203" pitchFamily="34" charset="0"/>
                <a:ea typeface="나눔바른고딕" panose="020B0603020101020101"/>
              </a:defRPr>
            </a:lvl3pPr>
            <a:lvl4pPr>
              <a:defRPr sz="1600" baseline="0">
                <a:latin typeface="Bahnschrift" panose="020B0502040204020203" pitchFamily="34" charset="0"/>
                <a:ea typeface="나눔바른고딕" panose="020B0603020101020101"/>
              </a:defRPr>
            </a:lvl4pPr>
            <a:lvl5pPr>
              <a:defRPr sz="1600" baseline="0">
                <a:latin typeface="Bahnschrift" panose="020B0502040204020203" pitchFamily="34" charset="0"/>
                <a:ea typeface="나눔바른고딕" panose="020B0603020101020101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58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C3C8253-BD6E-4E99-9512-D1ABAD65749A}"/>
              </a:ext>
            </a:extLst>
          </p:cNvPr>
          <p:cNvCxnSpPr>
            <a:cxnSpLocks/>
          </p:cNvCxnSpPr>
          <p:nvPr userDrawn="1"/>
        </p:nvCxnSpPr>
        <p:spPr>
          <a:xfrm>
            <a:off x="209552" y="778386"/>
            <a:ext cx="1172527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>
            <a:extLst>
              <a:ext uri="{FF2B5EF4-FFF2-40B4-BE49-F238E27FC236}">
                <a16:creationId xmlns:a16="http://schemas.microsoft.com/office/drawing/2014/main" id="{73512CED-D7AF-4EA2-B543-7A185FE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6EBE8F-2CA7-4A84-87FD-E8EBE959A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5682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3512CED-D7AF-4EA2-B543-7A185FE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206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6EBE8F-2CA7-4A84-87FD-E8EBE959A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lvl1pPr>
            <a:lvl2pPr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C655A9F-7736-4AB1-8EC3-D9D7FDFC6BA9}"/>
              </a:ext>
            </a:extLst>
          </p:cNvPr>
          <p:cNvCxnSpPr>
            <a:cxnSpLocks/>
          </p:cNvCxnSpPr>
          <p:nvPr userDrawn="1"/>
        </p:nvCxnSpPr>
        <p:spPr>
          <a:xfrm>
            <a:off x="209552" y="796434"/>
            <a:ext cx="1172527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27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C3C8253-BD6E-4E99-9512-D1ABAD65749A}"/>
              </a:ext>
            </a:extLst>
          </p:cNvPr>
          <p:cNvCxnSpPr>
            <a:cxnSpLocks/>
          </p:cNvCxnSpPr>
          <p:nvPr userDrawn="1"/>
        </p:nvCxnSpPr>
        <p:spPr>
          <a:xfrm>
            <a:off x="228600" y="796434"/>
            <a:ext cx="1166812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>
            <a:extLst>
              <a:ext uri="{FF2B5EF4-FFF2-40B4-BE49-F238E27FC236}">
                <a16:creationId xmlns:a16="http://schemas.microsoft.com/office/drawing/2014/main" id="{73512CED-D7AF-4EA2-B543-7A185FE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206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6EBE8F-2CA7-4A84-87FD-E8EBE959A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lvl1pPr>
            <a:lvl2pPr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8198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017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0E6D3D-8684-42A0-99D4-8DA89870E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ctr">
              <a:buFont typeface="+mj-lt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63417E64-10DB-45FE-B3AC-8C68DD67C89D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C422D9F-E06E-48CE-8264-9CF1168BF5B8}"/>
              </a:ext>
            </a:extLst>
          </p:cNvPr>
          <p:cNvCxnSpPr>
            <a:cxnSpLocks/>
          </p:cNvCxnSpPr>
          <p:nvPr userDrawn="1"/>
        </p:nvCxnSpPr>
        <p:spPr>
          <a:xfrm>
            <a:off x="219075" y="6176963"/>
            <a:ext cx="116967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2B2ADC5-7002-4C2C-B999-F6F3B52EF574}"/>
              </a:ext>
            </a:extLst>
          </p:cNvPr>
          <p:cNvSpPr txBox="1"/>
          <p:nvPr userDrawn="1"/>
        </p:nvSpPr>
        <p:spPr>
          <a:xfrm>
            <a:off x="3943928" y="683491"/>
            <a:ext cx="472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8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D816668-11AD-453A-84B9-91FFACD5A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" t="13815" r="1463" b="9645"/>
          <a:stretch/>
        </p:blipFill>
        <p:spPr>
          <a:xfrm>
            <a:off x="333375" y="6319046"/>
            <a:ext cx="1674019" cy="4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4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4" r:id="rId2"/>
    <p:sldLayoutId id="2147483665" r:id="rId3"/>
    <p:sldLayoutId id="2147483661" r:id="rId4"/>
    <p:sldLayoutId id="2147483660" r:id="rId5"/>
    <p:sldLayoutId id="2147483662" r:id="rId6"/>
  </p:sldLayoutIdLst>
  <p:hf hdr="0" ftr="0" dt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B47DA59-571C-4A78-BDEA-79809B55D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2087" y="1118934"/>
            <a:ext cx="9607826" cy="2387600"/>
          </a:xfrm>
        </p:spPr>
        <p:txBody>
          <a:bodyPr/>
          <a:lstStyle/>
          <a:p>
            <a:r>
              <a:rPr lang="en-US" altLang="ko-KR" dirty="0">
                <a:solidFill>
                  <a:schemeClr val="dk1"/>
                </a:solidFill>
                <a:latin typeface="+mj-ea"/>
                <a:ea typeface="+mj-ea"/>
              </a:rPr>
              <a:t>Lab 1. Decommenter</a:t>
            </a:r>
            <a:br>
              <a:rPr lang="en-US" altLang="ko-KR" sz="6600" dirty="0">
                <a:solidFill>
                  <a:schemeClr val="dk1"/>
                </a:solidFill>
                <a:latin typeface="+mj-ea"/>
                <a:ea typeface="+mj-ea"/>
              </a:rPr>
            </a:br>
            <a:r>
              <a:rPr lang="en-US" altLang="ko-KR" sz="3200" dirty="0">
                <a:solidFill>
                  <a:schemeClr val="dk1"/>
                </a:solidFill>
                <a:latin typeface="+mj-ea"/>
                <a:ea typeface="+mj-ea"/>
              </a:rPr>
              <a:t>System Programming Assignment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EA9BFC4A-9E4C-4566-A722-6791B1118F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altLang="ko-KR" sz="2400" dirty="0">
                <a:latin typeface="+mn-ea"/>
                <a:ea typeface="+mn-ea"/>
              </a:rPr>
              <a:t>Seongjong Bae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altLang="ko-KR" sz="2000" dirty="0">
                <a:latin typeface="+mn-ea"/>
                <a:ea typeface="+mn-ea"/>
              </a:rPr>
              <a:t>SNU TNET Lab.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49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20C53FB-E69B-38DA-6783-FDAA7D3A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2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0E3E66D-270C-FE13-D959-473F08E8B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What Is Decommenter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03007A-A334-C938-ABF0-48C49D5DF3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1808" y="5467298"/>
            <a:ext cx="10987340" cy="573577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Decommenter: Tool to remove comments within source code files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022B8E-D503-5D4B-6A56-8FAF0B468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418" y="1202331"/>
            <a:ext cx="3244982" cy="36952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0D12B5F-ECE4-CF1A-E519-2B8B86699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617" y="1171672"/>
            <a:ext cx="3205137" cy="3695242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E29D080-03A5-322C-D6C9-111C1EFE7D00}"/>
              </a:ext>
            </a:extLst>
          </p:cNvPr>
          <p:cNvSpPr/>
          <p:nvPr/>
        </p:nvSpPr>
        <p:spPr>
          <a:xfrm>
            <a:off x="5470170" y="2732505"/>
            <a:ext cx="1184857" cy="573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8980C-5509-97AB-1D6E-810D5A38EA91}"/>
              </a:ext>
            </a:extLst>
          </p:cNvPr>
          <p:cNvSpPr txBox="1"/>
          <p:nvPr/>
        </p:nvSpPr>
        <p:spPr>
          <a:xfrm>
            <a:off x="4822076" y="4852735"/>
            <a:ext cx="264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Decommented test0.c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8691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514A3-FF39-B9E9-7D94-2421A3F68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B3FC86B-1E3E-BB15-52DC-B0CB5C9E9C69}"/>
              </a:ext>
            </a:extLst>
          </p:cNvPr>
          <p:cNvCxnSpPr>
            <a:cxnSpLocks/>
          </p:cNvCxnSpPr>
          <p:nvPr/>
        </p:nvCxnSpPr>
        <p:spPr>
          <a:xfrm>
            <a:off x="6579215" y="2551430"/>
            <a:ext cx="1792055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00DA5B-753A-74BD-487B-8E636161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3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3FE408A-2605-0042-25A3-8E1830CC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Usage Instructions for Decommenter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3D0AEA-AC41-6DD6-BB48-0AC3FA7628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1808" y="4070916"/>
            <a:ext cx="10987340" cy="1969960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Input and output for “decomment” should be handled via redirection</a:t>
            </a:r>
          </a:p>
          <a:p>
            <a:pPr lvl="1"/>
            <a:r>
              <a:rPr lang="en-US" altLang="ko-KR" dirty="0">
                <a:latin typeface="+mn-ea"/>
              </a:rPr>
              <a:t>Default functionality in C program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No special additional work required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380AA-4207-E796-6639-AB9AD2A9B553}"/>
              </a:ext>
            </a:extLst>
          </p:cNvPr>
          <p:cNvSpPr txBox="1"/>
          <p:nvPr/>
        </p:nvSpPr>
        <p:spPr>
          <a:xfrm>
            <a:off x="1809332" y="1968066"/>
            <a:ext cx="8718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+mn-ea"/>
              </a:rPr>
              <a:t>./decomment &lt; </a:t>
            </a:r>
            <a:r>
              <a:rPr lang="en-US" altLang="ko-KR" sz="3200" dirty="0" err="1">
                <a:latin typeface="+mn-ea"/>
              </a:rPr>
              <a:t>somefile.c</a:t>
            </a:r>
            <a:r>
              <a:rPr lang="en-US" altLang="ko-KR" sz="3200" dirty="0">
                <a:latin typeface="+mn-ea"/>
              </a:rPr>
              <a:t> &gt; output 2&gt; errors</a:t>
            </a:r>
            <a:endParaRPr lang="ko-KR" altLang="en-US" sz="3200" dirty="0"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039D58F-8A99-1EF9-5A5B-9A1EDFBFA855}"/>
              </a:ext>
            </a:extLst>
          </p:cNvPr>
          <p:cNvCxnSpPr>
            <a:cxnSpLocks/>
          </p:cNvCxnSpPr>
          <p:nvPr/>
        </p:nvCxnSpPr>
        <p:spPr>
          <a:xfrm flipV="1">
            <a:off x="1809332" y="2551431"/>
            <a:ext cx="2807351" cy="42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2B4812-8002-2001-BFD2-560A7C785A67}"/>
              </a:ext>
            </a:extLst>
          </p:cNvPr>
          <p:cNvSpPr txBox="1"/>
          <p:nvPr/>
        </p:nvSpPr>
        <p:spPr>
          <a:xfrm>
            <a:off x="2049887" y="2602420"/>
            <a:ext cx="2367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Your executable file</a:t>
            </a:r>
            <a:endParaRPr lang="ko-KR" altLang="en-US" dirty="0">
              <a:latin typeface="+mn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A3D2F6E-862E-CF3F-8B98-19ECB3B67E85}"/>
              </a:ext>
            </a:extLst>
          </p:cNvPr>
          <p:cNvCxnSpPr>
            <a:cxnSpLocks/>
          </p:cNvCxnSpPr>
          <p:nvPr/>
        </p:nvCxnSpPr>
        <p:spPr>
          <a:xfrm>
            <a:off x="4561267" y="2550020"/>
            <a:ext cx="2126769" cy="282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60BD031-488A-D7B1-8E77-E9F9FE57C8BA}"/>
              </a:ext>
            </a:extLst>
          </p:cNvPr>
          <p:cNvCxnSpPr>
            <a:cxnSpLocks/>
          </p:cNvCxnSpPr>
          <p:nvPr/>
        </p:nvCxnSpPr>
        <p:spPr>
          <a:xfrm flipV="1">
            <a:off x="8371270" y="2551430"/>
            <a:ext cx="1788730" cy="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9D1056BD-5E36-E268-C7BA-9A057290DFCF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1884235" y="2621434"/>
            <a:ext cx="187490" cy="1438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5C265E17-39A6-F4A7-F13B-10091331FD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63691" y="2768186"/>
            <a:ext cx="560060" cy="16313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E13C67F-9A76-2405-207E-CED1590896E2}"/>
              </a:ext>
            </a:extLst>
          </p:cNvPr>
          <p:cNvSpPr txBox="1"/>
          <p:nvPr/>
        </p:nvSpPr>
        <p:spPr>
          <a:xfrm>
            <a:off x="4724401" y="2971752"/>
            <a:ext cx="196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Target(input) file</a:t>
            </a:r>
            <a:endParaRPr lang="ko-KR" altLang="en-US" dirty="0">
              <a:latin typeface="+mn-ea"/>
            </a:endParaRP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0F550410-8EDF-86ED-AB39-CDCE08769E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71139" y="2773197"/>
            <a:ext cx="560062" cy="163134"/>
          </a:xfrm>
          <a:prstGeom prst="bent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E8D6495-98D6-CEDD-33C5-04231C941692}"/>
              </a:ext>
            </a:extLst>
          </p:cNvPr>
          <p:cNvSpPr txBox="1"/>
          <p:nvPr/>
        </p:nvSpPr>
        <p:spPr>
          <a:xfrm>
            <a:off x="6917548" y="2967336"/>
            <a:ext cx="124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Result</a:t>
            </a:r>
            <a:endParaRPr lang="ko-KR" altLang="en-US" dirty="0">
              <a:latin typeface="+mn-ea"/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BB19F8CA-664B-3A73-B5AD-93DD64D0FE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76742" y="2748484"/>
            <a:ext cx="560062" cy="163134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6A9E79D-FCA7-8572-4A16-92486A4AAB9D}"/>
              </a:ext>
            </a:extLst>
          </p:cNvPr>
          <p:cNvSpPr txBox="1"/>
          <p:nvPr/>
        </p:nvSpPr>
        <p:spPr>
          <a:xfrm>
            <a:off x="8641010" y="2925416"/>
            <a:ext cx="124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Error log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4191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9F16E-9A62-5C9C-4EA9-8F073E4EB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B884A7C-00FE-2F86-2EAD-B9192C28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-</a:t>
            </a:r>
            <a:fld id="{3D16D23B-24D6-455E-BBD7-6975BEA16FD4}" type="slidenum">
              <a:rPr lang="ko-KR" altLang="en-US" smtClean="0">
                <a:latin typeface="+mn-ea"/>
                <a:ea typeface="+mn-ea"/>
              </a:rPr>
              <a:pPr/>
              <a:t>4</a:t>
            </a:fld>
            <a:r>
              <a:rPr lang="en-US" altLang="ko-KR" dirty="0">
                <a:latin typeface="+mn-ea"/>
                <a:ea typeface="+mn-ea"/>
              </a:rPr>
              <a:t>-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2B467B-9AD5-7154-ED4E-1875F45E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Requirements – Replace Each Comment with a Space (1/9)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899CAE-A059-478F-37EE-0C86785F04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4340180"/>
            <a:ext cx="10692848" cy="1700696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In the following examples,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 “</a:t>
            </a:r>
            <a:r>
              <a:rPr lang="en-US" altLang="ko-KR" baseline="-25000" dirty="0">
                <a:solidFill>
                  <a:schemeClr val="tx1"/>
                </a:solidFill>
                <a:latin typeface="+mn-ea"/>
              </a:rPr>
              <a:t>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”: a space character 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 “</a:t>
            </a:r>
            <a:r>
              <a:rPr lang="en-US" altLang="ko-KR" baseline="-25000" dirty="0">
                <a:solidFill>
                  <a:schemeClr val="tx1"/>
                </a:solidFill>
                <a:latin typeface="+mn-ea"/>
              </a:rPr>
              <a:t>n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”: a newline character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CB1F328-C7E2-C24E-1779-7B2854997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106858"/>
              </p:ext>
            </p:extLst>
          </p:nvPr>
        </p:nvGraphicFramePr>
        <p:xfrm>
          <a:off x="1296643" y="1787975"/>
          <a:ext cx="9598713" cy="1830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571">
                  <a:extLst>
                    <a:ext uri="{9D8B030D-6E8A-4147-A177-3AD203B41FA5}">
                      <a16:colId xmlns:a16="http://schemas.microsoft.com/office/drawing/2014/main" val="2891475324"/>
                    </a:ext>
                  </a:extLst>
                </a:gridCol>
                <a:gridCol w="3199571">
                  <a:extLst>
                    <a:ext uri="{9D8B030D-6E8A-4147-A177-3AD203B41FA5}">
                      <a16:colId xmlns:a16="http://schemas.microsoft.com/office/drawing/2014/main" val="163360775"/>
                    </a:ext>
                  </a:extLst>
                </a:gridCol>
                <a:gridCol w="3199571">
                  <a:extLst>
                    <a:ext uri="{9D8B030D-6E8A-4147-A177-3AD203B41FA5}">
                      <a16:colId xmlns:a16="http://schemas.microsoft.com/office/drawing/2014/main" val="3459507647"/>
                    </a:ext>
                  </a:extLst>
                </a:gridCol>
              </a:tblGrid>
              <a:tr h="67166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Input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Output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</a:t>
                      </a:r>
                      <a:r>
                        <a:rPr lang="en-US" altLang="ko-KR" b="0">
                          <a:latin typeface="+mn-ea"/>
                          <a:ea typeface="+mn-ea"/>
                        </a:rPr>
                        <a:t>Error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094073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</a:t>
                      </a:r>
                      <a:r>
                        <a:rPr lang="en-US" altLang="ko-KR" sz="2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/*def*/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</a:t>
                      </a:r>
                      <a:r>
                        <a:rPr lang="en-US" altLang="ko-KR" sz="2800" baseline="-25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24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56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25BB-A946-EED7-BFC4-3F55641E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0FFF29-1AB6-31CB-F53E-7C036645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5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B357471-B07D-6A67-6F63-9D8DADF4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Requirements – Support Both Types of Comments (2/9)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48735A-7EEB-1F6D-D703-B5B71E94EE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2331" y="4294908"/>
            <a:ext cx="11132468" cy="1488329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/>
                </a:solidFill>
                <a:latin typeface="+mn-ea"/>
              </a:rPr>
              <a:t>2 Types of comments:</a:t>
            </a:r>
          </a:p>
          <a:p>
            <a:pPr lvl="1"/>
            <a:r>
              <a:rPr lang="en-US" altLang="ko-KR" sz="1800" dirty="0">
                <a:solidFill>
                  <a:schemeClr val="tx1"/>
                </a:solidFill>
                <a:latin typeface="+mn-ea"/>
              </a:rPr>
              <a:t>“//”: Single line comment</a:t>
            </a:r>
          </a:p>
          <a:p>
            <a:pPr lvl="1"/>
            <a:r>
              <a:rPr lang="en-US" altLang="ko-KR" sz="1800" dirty="0">
                <a:solidFill>
                  <a:schemeClr val="tx1"/>
                </a:solidFill>
                <a:latin typeface="+mn-ea"/>
              </a:rPr>
              <a:t>“/* … */”: Multi-line comment</a:t>
            </a:r>
          </a:p>
          <a:p>
            <a:r>
              <a:rPr lang="en-US" altLang="ko-KR" sz="2000" dirty="0">
                <a:latin typeface="+mn-ea"/>
              </a:rPr>
              <a:t>Ensure the program </a:t>
            </a:r>
            <a:r>
              <a:rPr lang="en-US" altLang="ko-KR" sz="2000" b="1" dirty="0">
                <a:latin typeface="+mn-ea"/>
              </a:rPr>
              <a:t>adds blank lines</a:t>
            </a:r>
            <a:r>
              <a:rPr lang="en-US" altLang="ko-KR" sz="2000" dirty="0">
                <a:latin typeface="+mn-ea"/>
              </a:rPr>
              <a:t> as needed to </a:t>
            </a:r>
            <a:r>
              <a:rPr lang="en-US" altLang="ko-KR" sz="2000" b="1" dirty="0">
                <a:latin typeface="+mn-ea"/>
              </a:rPr>
              <a:t>preserve original line numbering</a:t>
            </a:r>
            <a:endParaRPr lang="en-US" altLang="ko-KR" sz="20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4F31C79-2CC2-5C70-3579-B40BDF8EB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13625"/>
              </p:ext>
            </p:extLst>
          </p:nvPr>
        </p:nvGraphicFramePr>
        <p:xfrm>
          <a:off x="602331" y="1074762"/>
          <a:ext cx="10988655" cy="299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1">
                  <a:extLst>
                    <a:ext uri="{9D8B030D-6E8A-4147-A177-3AD203B41FA5}">
                      <a16:colId xmlns:a16="http://schemas.microsoft.com/office/drawing/2014/main" val="2682864544"/>
                    </a:ext>
                  </a:extLst>
                </a:gridCol>
                <a:gridCol w="4031087">
                  <a:extLst>
                    <a:ext uri="{9D8B030D-6E8A-4147-A177-3AD203B41FA5}">
                      <a16:colId xmlns:a16="http://schemas.microsoft.com/office/drawing/2014/main" val="2891475324"/>
                    </a:ext>
                  </a:extLst>
                </a:gridCol>
                <a:gridCol w="2691685">
                  <a:extLst>
                    <a:ext uri="{9D8B030D-6E8A-4147-A177-3AD203B41FA5}">
                      <a16:colId xmlns:a16="http://schemas.microsoft.com/office/drawing/2014/main" val="163360775"/>
                    </a:ext>
                  </a:extLst>
                </a:gridCol>
                <a:gridCol w="2741882">
                  <a:extLst>
                    <a:ext uri="{9D8B030D-6E8A-4147-A177-3AD203B41FA5}">
                      <a16:colId xmlns:a16="http://schemas.microsoft.com/office/drawing/2014/main" val="3459507647"/>
                    </a:ext>
                  </a:extLst>
                </a:gridCol>
              </a:tblGrid>
              <a:tr h="67166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Case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Input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Output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Error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094073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+mn-ea"/>
                          <a:ea typeface="+mn-ea"/>
                        </a:rPr>
                        <a:t>Single line comment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</a:t>
                      </a:r>
                      <a:r>
                        <a:rPr lang="en-US" altLang="ko-KR" sz="2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//</a:t>
                      </a:r>
                      <a:r>
                        <a:rPr lang="en-US" altLang="ko-KR" sz="28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def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</a:t>
                      </a:r>
                      <a:r>
                        <a:rPr lang="en-US" altLang="ko-KR" sz="2800" baseline="-25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249997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+mn-ea"/>
                          <a:ea typeface="+mn-ea"/>
                        </a:rPr>
                        <a:t>Multi-line comment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</a:t>
                      </a:r>
                      <a:r>
                        <a:rPr lang="en-US" altLang="ko-KR" sz="2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def</a:t>
                      </a:r>
                      <a:r>
                        <a:rPr lang="en-US" altLang="ko-KR" sz="2800" baseline="-25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n</a:t>
                      </a:r>
                      <a:r>
                        <a:rPr lang="en-US" altLang="ko-KR" sz="28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mno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</a:t>
                      </a:r>
                      <a:r>
                        <a:rPr lang="en-US" altLang="ko-KR" sz="2800" baseline="-25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sn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mno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70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15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25BB-A946-EED7-BFC4-3F55641E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0FFF29-1AB6-31CB-F53E-7C036645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6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B357471-B07D-6A67-6F63-9D8DADF4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Requirements – Comments within Comments(3/9)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48735A-7EEB-1F6D-D703-B5B71E94EE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2597" y="4120062"/>
            <a:ext cx="11132468" cy="1211327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/>
                </a:solidFill>
                <a:latin typeface="+mn-ea"/>
              </a:rPr>
              <a:t>A multi-line comment begins when the preprocess encounters "/*" for the first time</a:t>
            </a:r>
            <a:endParaRPr lang="en-US" altLang="ko-KR" sz="18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2000" dirty="0">
                <a:solidFill>
                  <a:schemeClr val="tx1"/>
                </a:solidFill>
                <a:latin typeface="+mn-ea"/>
              </a:rPr>
              <a:t>The comment ends when it encounters "*/" after the comment begins</a:t>
            </a:r>
            <a:endParaRPr lang="en-US" altLang="ko-KR" sz="20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4F31C79-2CC2-5C70-3579-B40BDF8EB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924984"/>
              </p:ext>
            </p:extLst>
          </p:nvPr>
        </p:nvGraphicFramePr>
        <p:xfrm>
          <a:off x="960638" y="1518063"/>
          <a:ext cx="10416385" cy="1830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6036">
                  <a:extLst>
                    <a:ext uri="{9D8B030D-6E8A-4147-A177-3AD203B41FA5}">
                      <a16:colId xmlns:a16="http://schemas.microsoft.com/office/drawing/2014/main" val="2891475324"/>
                    </a:ext>
                  </a:extLst>
                </a:gridCol>
                <a:gridCol w="2909455">
                  <a:extLst>
                    <a:ext uri="{9D8B030D-6E8A-4147-A177-3AD203B41FA5}">
                      <a16:colId xmlns:a16="http://schemas.microsoft.com/office/drawing/2014/main" val="163360775"/>
                    </a:ext>
                  </a:extLst>
                </a:gridCol>
                <a:gridCol w="3000894">
                  <a:extLst>
                    <a:ext uri="{9D8B030D-6E8A-4147-A177-3AD203B41FA5}">
                      <a16:colId xmlns:a16="http://schemas.microsoft.com/office/drawing/2014/main" val="3459507647"/>
                    </a:ext>
                  </a:extLst>
                </a:gridCol>
              </a:tblGrid>
              <a:tr h="67166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Input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Output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Error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094073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</a:t>
                      </a:r>
                      <a:r>
                        <a:rPr lang="en-US" altLang="ko-KR" sz="2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/*def/*</a:t>
                      </a:r>
                      <a:r>
                        <a:rPr lang="en-US" altLang="ko-KR" sz="28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mno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</a:t>
                      </a:r>
                      <a:r>
                        <a:rPr lang="en-US" altLang="ko-KR" sz="2800" baseline="-25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</a:t>
                      </a:r>
                      <a:r>
                        <a:rPr lang="en-US" altLang="ko-KR" sz="2800" baseline="0" dirty="0" err="1">
                          <a:latin typeface="+mn-ea"/>
                          <a:ea typeface="+mn-ea"/>
                        </a:rPr>
                        <a:t>jkl</a:t>
                      </a:r>
                      <a:r>
                        <a:rPr lang="en-US" altLang="ko-KR" sz="2800" baseline="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baseline="0" dirty="0" err="1">
                          <a:latin typeface="+mn-ea"/>
                          <a:ea typeface="+mn-ea"/>
                        </a:rPr>
                        <a:t>mno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24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139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68D8-7D60-F854-6252-95D6D0C36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7A95A1-D010-225D-4892-94A6CB0B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7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126C56D-CFB7-0A62-632F-D49CB23D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1" y="173474"/>
            <a:ext cx="12182662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Requirements – Exceptions: Comment in Str or Char Const (4/9)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C964B8-B719-C399-86E7-DDFEFCB2B9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1808" y="4340180"/>
            <a:ext cx="10987340" cy="1700696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Do not de-comment the comment when: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Part of the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string or character constant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3CEF4EA7-4158-F1CF-2E69-9536C5CE6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9953"/>
              </p:ext>
            </p:extLst>
          </p:nvPr>
        </p:nvGraphicFramePr>
        <p:xfrm>
          <a:off x="567087" y="1048463"/>
          <a:ext cx="11057825" cy="299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53">
                  <a:extLst>
                    <a:ext uri="{9D8B030D-6E8A-4147-A177-3AD203B41FA5}">
                      <a16:colId xmlns:a16="http://schemas.microsoft.com/office/drawing/2014/main" val="2682864544"/>
                    </a:ext>
                  </a:extLst>
                </a:gridCol>
                <a:gridCol w="4055752">
                  <a:extLst>
                    <a:ext uri="{9D8B030D-6E8A-4147-A177-3AD203B41FA5}">
                      <a16:colId xmlns:a16="http://schemas.microsoft.com/office/drawing/2014/main" val="2891475324"/>
                    </a:ext>
                  </a:extLst>
                </a:gridCol>
                <a:gridCol w="4018209">
                  <a:extLst>
                    <a:ext uri="{9D8B030D-6E8A-4147-A177-3AD203B41FA5}">
                      <a16:colId xmlns:a16="http://schemas.microsoft.com/office/drawing/2014/main" val="163360775"/>
                    </a:ext>
                  </a:extLst>
                </a:gridCol>
                <a:gridCol w="1617611">
                  <a:extLst>
                    <a:ext uri="{9D8B030D-6E8A-4147-A177-3AD203B41FA5}">
                      <a16:colId xmlns:a16="http://schemas.microsoft.com/office/drawing/2014/main" val="3459507647"/>
                    </a:ext>
                  </a:extLst>
                </a:gridCol>
              </a:tblGrid>
              <a:tr h="67166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Case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Input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Output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Error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094073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+mn-ea"/>
                          <a:ea typeface="+mn-ea"/>
                        </a:rPr>
                        <a:t>Part of the string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abc"def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jkl"mno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abc"def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jkl"mno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249997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+mn-ea"/>
                          <a:ea typeface="+mn-ea"/>
                        </a:rPr>
                        <a:t>Part of the character constant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abc'def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jkl'mno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abc'def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jkl'mno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70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70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63064-D1F9-5C77-E35F-4DD1BF029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13B5FA-5D90-5877-C3E1-B2B9B6AA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8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762AB8E-AC5C-8DEA-B11D-50C1B82F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800114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Requirements – Handle ‘</a:t>
            </a:r>
            <a:r>
              <a:rPr lang="en-US" altLang="ko-KR" b="0" i="0" dirty="0">
                <a:effectLst/>
                <a:latin typeface="Arial" panose="020B0604020202020204" pitchFamily="34" charset="0"/>
              </a:rPr>
              <a:t>\</a:t>
            </a:r>
            <a:r>
              <a:rPr lang="en-US" altLang="ko-KR" dirty="0">
                <a:latin typeface="+mj-ea"/>
              </a:rPr>
              <a:t>’ as the ordinary characters (5/9)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6DD6EE-B7EB-B122-B18A-10BE8FB77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2329" y="4129442"/>
            <a:ext cx="11343447" cy="1859234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Handle ‘</a:t>
            </a:r>
            <a:r>
              <a:rPr lang="en-US" altLang="ko-KR" b="0" i="0" dirty="0">
                <a:effectLst/>
                <a:latin typeface="Arial" panose="020B0604020202020204" pitchFamily="34" charset="0"/>
              </a:rPr>
              <a:t>\</a:t>
            </a:r>
            <a:r>
              <a:rPr lang="en-US" altLang="ko-KR" dirty="0">
                <a:latin typeface="+mn-ea"/>
              </a:rPr>
              <a:t>’ as the ordinary characters when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Within the string or character constant</a:t>
            </a:r>
          </a:p>
          <a:p>
            <a:r>
              <a:rPr lang="en-US" altLang="ko-KR" dirty="0">
                <a:latin typeface="+mn-ea"/>
              </a:rPr>
              <a:t>A C compiler would incur an error (multiple characters in a character constant)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But many C preprocessors would not</a:t>
            </a:r>
          </a:p>
          <a:p>
            <a:pPr lvl="1"/>
            <a:r>
              <a:rPr lang="en-US" altLang="ko-KR" dirty="0">
                <a:latin typeface="+mn-ea"/>
              </a:rPr>
              <a:t>And your program should not either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6F74175-4774-E9E4-BCAD-211DE4606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707371"/>
              </p:ext>
            </p:extLst>
          </p:nvPr>
        </p:nvGraphicFramePr>
        <p:xfrm>
          <a:off x="567087" y="973771"/>
          <a:ext cx="11057825" cy="299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53">
                  <a:extLst>
                    <a:ext uri="{9D8B030D-6E8A-4147-A177-3AD203B41FA5}">
                      <a16:colId xmlns:a16="http://schemas.microsoft.com/office/drawing/2014/main" val="2682864544"/>
                    </a:ext>
                  </a:extLst>
                </a:gridCol>
                <a:gridCol w="4055752">
                  <a:extLst>
                    <a:ext uri="{9D8B030D-6E8A-4147-A177-3AD203B41FA5}">
                      <a16:colId xmlns:a16="http://schemas.microsoft.com/office/drawing/2014/main" val="2891475324"/>
                    </a:ext>
                  </a:extLst>
                </a:gridCol>
                <a:gridCol w="4018209">
                  <a:extLst>
                    <a:ext uri="{9D8B030D-6E8A-4147-A177-3AD203B41FA5}">
                      <a16:colId xmlns:a16="http://schemas.microsoft.com/office/drawing/2014/main" val="163360775"/>
                    </a:ext>
                  </a:extLst>
                </a:gridCol>
                <a:gridCol w="1617611">
                  <a:extLst>
                    <a:ext uri="{9D8B030D-6E8A-4147-A177-3AD203B41FA5}">
                      <a16:colId xmlns:a16="http://schemas.microsoft.com/office/drawing/2014/main" val="3459507647"/>
                    </a:ext>
                  </a:extLst>
                </a:gridCol>
              </a:tblGrid>
              <a:tr h="67166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Case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Input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Output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Error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094073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+mn-ea"/>
                          <a:ea typeface="+mn-ea"/>
                        </a:rPr>
                        <a:t>Part of the string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abc"def</a:t>
                      </a:r>
                      <a:r>
                        <a:rPr lang="en-US" altLang="ko-KR" sz="2800" b="0" i="0" dirty="0">
                          <a:effectLst/>
                          <a:latin typeface="Arial" panose="020B0604020202020204" pitchFamily="34" charset="0"/>
                        </a:rPr>
                        <a:t>\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ghi"jkl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abc"def</a:t>
                      </a:r>
                      <a:r>
                        <a:rPr lang="en-US" altLang="ko-KR" sz="2800" b="0" i="0" dirty="0">
                          <a:effectLst/>
                          <a:latin typeface="Arial" panose="020B0604020202020204" pitchFamily="34" charset="0"/>
                        </a:rPr>
                        <a:t>\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ghi"jkl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249997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Part of the character constant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abc'def</a:t>
                      </a:r>
                      <a:r>
                        <a:rPr lang="en-US" altLang="ko-KR" sz="2800" b="0" i="0" dirty="0">
                          <a:effectLst/>
                          <a:latin typeface="Arial" panose="020B0604020202020204" pitchFamily="34" charset="0"/>
                        </a:rPr>
                        <a:t>\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ghi'jkl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abc'def</a:t>
                      </a:r>
                      <a:r>
                        <a:rPr lang="en-US" altLang="ko-KR" sz="2800" b="0" i="0" dirty="0">
                          <a:effectLst/>
                          <a:latin typeface="Arial" panose="020B0604020202020204" pitchFamily="34" charset="0"/>
                        </a:rPr>
                        <a:t>\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ghi'jkl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70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820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48A06-B781-57E5-4F5E-8575576B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90ACF5-FE81-7C4B-9D0E-69BA177B2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9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707F0EC-2647-2ED5-0284-97845B8B2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800114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Requirements – Newline Characters in Str or Char Const (6/9)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E18529-42C0-1FF3-E7E3-7C280B194D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1808" y="4121239"/>
            <a:ext cx="10970542" cy="1919636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Handle ‘</a:t>
            </a:r>
            <a:r>
              <a:rPr lang="en-US" altLang="ko-KR" b="0" i="0" dirty="0">
                <a:effectLst/>
                <a:latin typeface="Arial" panose="020B0604020202020204" pitchFamily="34" charset="0"/>
              </a:rPr>
              <a:t>\</a:t>
            </a:r>
            <a:r>
              <a:rPr lang="en-US" altLang="ko-KR" dirty="0">
                <a:latin typeface="+mn-ea"/>
              </a:rPr>
              <a:t>n’ in str or chat const without generating errors or warnings</a:t>
            </a:r>
          </a:p>
          <a:p>
            <a:r>
              <a:rPr lang="en-US" altLang="ko-KR" dirty="0">
                <a:latin typeface="+mn-ea"/>
              </a:rPr>
              <a:t>A C compiler would incur an error (newline character in a string constant)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But many C preprocessors would not</a:t>
            </a:r>
          </a:p>
          <a:p>
            <a:pPr lvl="1"/>
            <a:r>
              <a:rPr lang="en-US" altLang="ko-KR" dirty="0">
                <a:latin typeface="+mn-ea"/>
              </a:rPr>
              <a:t>And your program should not either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40CF555-2F0B-39DD-F763-28D370171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771506"/>
              </p:ext>
            </p:extLst>
          </p:nvPr>
        </p:nvGraphicFramePr>
        <p:xfrm>
          <a:off x="581808" y="938992"/>
          <a:ext cx="11057825" cy="299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53">
                  <a:extLst>
                    <a:ext uri="{9D8B030D-6E8A-4147-A177-3AD203B41FA5}">
                      <a16:colId xmlns:a16="http://schemas.microsoft.com/office/drawing/2014/main" val="2682864544"/>
                    </a:ext>
                  </a:extLst>
                </a:gridCol>
                <a:gridCol w="4055752">
                  <a:extLst>
                    <a:ext uri="{9D8B030D-6E8A-4147-A177-3AD203B41FA5}">
                      <a16:colId xmlns:a16="http://schemas.microsoft.com/office/drawing/2014/main" val="2891475324"/>
                    </a:ext>
                  </a:extLst>
                </a:gridCol>
                <a:gridCol w="4018209">
                  <a:extLst>
                    <a:ext uri="{9D8B030D-6E8A-4147-A177-3AD203B41FA5}">
                      <a16:colId xmlns:a16="http://schemas.microsoft.com/office/drawing/2014/main" val="163360775"/>
                    </a:ext>
                  </a:extLst>
                </a:gridCol>
                <a:gridCol w="1617611">
                  <a:extLst>
                    <a:ext uri="{9D8B030D-6E8A-4147-A177-3AD203B41FA5}">
                      <a16:colId xmlns:a16="http://schemas.microsoft.com/office/drawing/2014/main" val="3459507647"/>
                    </a:ext>
                  </a:extLst>
                </a:gridCol>
              </a:tblGrid>
              <a:tr h="67166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Case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Input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Output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Error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094073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+mn-ea"/>
                          <a:ea typeface="+mn-ea"/>
                        </a:rPr>
                        <a:t>Part of the string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abc"def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ghi"jkl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abc"def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ghi"jkl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249997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Part of the character constant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abc'def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ghi'jkl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abc'def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ghi'jkl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70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495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CB311-DC1A-76F9-2E13-2C8F5671E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2893DB1-A2C7-DE9A-5ACD-7C8DC81AC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10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AE11317-F4E2-3DF5-690D-CECB7AA1E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800114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Requirements – Handle Unterminated Str and Char Const (7/9)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8D9850-5D63-BAD4-9A94-F3B2580CCC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1808" y="4340180"/>
            <a:ext cx="10987340" cy="1700696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Handle unterminated str and char const w/o generating errors or warnings</a:t>
            </a:r>
          </a:p>
          <a:p>
            <a:r>
              <a:rPr lang="en-US" altLang="ko-KR" dirty="0">
                <a:latin typeface="+mn-ea"/>
              </a:rPr>
              <a:t>A C compiler would incur an error (newline character in a string constant)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But many C preprocessors would not</a:t>
            </a:r>
          </a:p>
          <a:p>
            <a:pPr lvl="1"/>
            <a:r>
              <a:rPr lang="en-US" altLang="ko-KR" dirty="0">
                <a:latin typeface="+mn-ea"/>
              </a:rPr>
              <a:t>And your program should not either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05F894E-E23B-7E1D-A47D-1AC282F25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073560"/>
              </p:ext>
            </p:extLst>
          </p:nvPr>
        </p:nvGraphicFramePr>
        <p:xfrm>
          <a:off x="567087" y="1048463"/>
          <a:ext cx="11057825" cy="299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253">
                  <a:extLst>
                    <a:ext uri="{9D8B030D-6E8A-4147-A177-3AD203B41FA5}">
                      <a16:colId xmlns:a16="http://schemas.microsoft.com/office/drawing/2014/main" val="2682864544"/>
                    </a:ext>
                  </a:extLst>
                </a:gridCol>
                <a:gridCol w="4055752">
                  <a:extLst>
                    <a:ext uri="{9D8B030D-6E8A-4147-A177-3AD203B41FA5}">
                      <a16:colId xmlns:a16="http://schemas.microsoft.com/office/drawing/2014/main" val="2891475324"/>
                    </a:ext>
                  </a:extLst>
                </a:gridCol>
                <a:gridCol w="4018209">
                  <a:extLst>
                    <a:ext uri="{9D8B030D-6E8A-4147-A177-3AD203B41FA5}">
                      <a16:colId xmlns:a16="http://schemas.microsoft.com/office/drawing/2014/main" val="163360775"/>
                    </a:ext>
                  </a:extLst>
                </a:gridCol>
                <a:gridCol w="1617611">
                  <a:extLst>
                    <a:ext uri="{9D8B030D-6E8A-4147-A177-3AD203B41FA5}">
                      <a16:colId xmlns:a16="http://schemas.microsoft.com/office/drawing/2014/main" val="3459507647"/>
                    </a:ext>
                  </a:extLst>
                </a:gridCol>
              </a:tblGrid>
              <a:tr h="67166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Case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Input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Output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latin typeface="+mn-ea"/>
                          <a:ea typeface="+mn-ea"/>
                        </a:rPr>
                        <a:t>Standard Error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094073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+mn-ea"/>
                          <a:ea typeface="+mn-ea"/>
                        </a:rPr>
                        <a:t>Part of the string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abc"def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abc"def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249997"/>
                  </a:ext>
                </a:extLst>
              </a:tr>
              <a:tr h="115931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+mn-ea"/>
                          <a:ea typeface="+mn-ea"/>
                        </a:rPr>
                        <a:t>Part of the character constant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abc'def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abc'def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latin typeface="+mn-ea"/>
                          <a:ea typeface="+mn-ea"/>
                        </a:rPr>
                        <a:t>*/</a:t>
                      </a:r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jkl</a:t>
                      </a:r>
                      <a:r>
                        <a:rPr lang="en-US" altLang="ko-KR" sz="2800" baseline="-25000" dirty="0" err="1"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706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695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652F-E5D3-46C4-27C1-2F33A244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D534F7-9E06-BBB9-786A-829A5588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11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05A8A3E-7506-2C9A-3A4A-18BB7C3F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" y="173467"/>
            <a:ext cx="12100621" cy="573577"/>
          </a:xfrm>
        </p:spPr>
        <p:txBody>
          <a:bodyPr/>
          <a:lstStyle/>
          <a:p>
            <a:r>
              <a:rPr lang="en-US" altLang="ko-KR" sz="2800" dirty="0">
                <a:latin typeface="+mj-ea"/>
              </a:rPr>
              <a:t>Requirements – Error: EOF Before a Comment Is Terminated (8/9)</a:t>
            </a:r>
            <a:endParaRPr lang="ko-KR" altLang="en-US" sz="2800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BE645F-EF03-D24F-69B1-80080DDF61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519" y="3998435"/>
            <a:ext cx="10987340" cy="1700696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Include the line number where the comment starts in the error message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Return EXIT_FAILURE when an unterminated comment was detected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Except for this case, you should return EXIT_SUCCESS in all other cases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EXIT_FAILURE and EXIT_SUCCESS are defined as macros in 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endParaRPr lang="en-US" altLang="ko-KR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so add 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to your C code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BB30024-95BC-E1D9-663F-D539E40B5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0850"/>
              </p:ext>
            </p:extLst>
          </p:nvPr>
        </p:nvGraphicFramePr>
        <p:xfrm>
          <a:off x="545519" y="1546467"/>
          <a:ext cx="11175426" cy="1994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917">
                  <a:extLst>
                    <a:ext uri="{9D8B030D-6E8A-4147-A177-3AD203B41FA5}">
                      <a16:colId xmlns:a16="http://schemas.microsoft.com/office/drawing/2014/main" val="2891475324"/>
                    </a:ext>
                  </a:extLst>
                </a:gridCol>
                <a:gridCol w="2854037">
                  <a:extLst>
                    <a:ext uri="{9D8B030D-6E8A-4147-A177-3AD203B41FA5}">
                      <a16:colId xmlns:a16="http://schemas.microsoft.com/office/drawing/2014/main" val="163360775"/>
                    </a:ext>
                  </a:extLst>
                </a:gridCol>
                <a:gridCol w="5606472">
                  <a:extLst>
                    <a:ext uri="{9D8B030D-6E8A-4147-A177-3AD203B41FA5}">
                      <a16:colId xmlns:a16="http://schemas.microsoft.com/office/drawing/2014/main" val="3459507647"/>
                    </a:ext>
                  </a:extLst>
                </a:gridCol>
              </a:tblGrid>
              <a:tr h="63106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Input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Output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latin typeface="+mn-ea"/>
                          <a:ea typeface="+mn-ea"/>
                        </a:rPr>
                        <a:t>Standard Error Stream</a:t>
                      </a:r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094073"/>
                  </a:ext>
                </a:extLst>
              </a:tr>
              <a:tr h="136323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abcdef</a:t>
                      </a:r>
                      <a:r>
                        <a:rPr lang="en-US" altLang="ko-KR" sz="2800" baseline="-25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r>
                        <a:rPr lang="en-US" altLang="ko-KR" sz="2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/*</a:t>
                      </a:r>
                      <a:r>
                        <a:rPr lang="en-US" altLang="ko-KR" sz="2800" baseline="-250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n</a:t>
                      </a:r>
                      <a:endParaRPr lang="ko-KR" altLang="en-US" sz="2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>
                          <a:latin typeface="+mn-ea"/>
                          <a:ea typeface="+mn-ea"/>
                        </a:rPr>
                        <a:t>abcdef</a:t>
                      </a:r>
                      <a:r>
                        <a:rPr lang="en-US" altLang="ko-KR" sz="2800" baseline="-25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r>
                        <a:rPr lang="en-US" altLang="ko-KR" sz="2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ghi</a:t>
                      </a:r>
                      <a:r>
                        <a:rPr lang="en-US" altLang="ko-KR" sz="2800" baseline="-250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sn</a:t>
                      </a:r>
                      <a:endParaRPr lang="ko-KR" altLang="en-US" sz="2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>
                          <a:latin typeface="+mn-ea"/>
                          <a:ea typeface="+mn-ea"/>
                        </a:rPr>
                        <a:t>Error:</a:t>
                      </a:r>
                      <a:r>
                        <a:rPr lang="en-US" altLang="ko-KR" sz="2400" baseline="-25000" dirty="0">
                          <a:latin typeface="+mn-ea"/>
                          <a:ea typeface="+mn-ea"/>
                        </a:rPr>
                        <a:t>s</a:t>
                      </a:r>
                      <a:r>
                        <a:rPr lang="en-US" altLang="ko-KR" sz="2400" dirty="0">
                          <a:latin typeface="+mn-ea"/>
                          <a:ea typeface="+mn-ea"/>
                        </a:rPr>
                        <a:t>line</a:t>
                      </a:r>
                      <a:r>
                        <a:rPr lang="en-US" altLang="ko-KR" sz="2400" baseline="-25000" dirty="0">
                          <a:latin typeface="+mn-ea"/>
                          <a:ea typeface="+mn-ea"/>
                        </a:rPr>
                        <a:t>s</a:t>
                      </a:r>
                      <a:r>
                        <a:rPr lang="en-US" altLang="ko-KR" sz="2400" dirty="0">
                          <a:latin typeface="+mn-ea"/>
                          <a:ea typeface="+mn-ea"/>
                        </a:rPr>
                        <a:t>2:</a:t>
                      </a:r>
                      <a:r>
                        <a:rPr lang="en-US" altLang="ko-KR" sz="2400" baseline="-25000" dirty="0">
                          <a:latin typeface="+mn-ea"/>
                          <a:ea typeface="+mn-ea"/>
                        </a:rPr>
                        <a:t>s</a:t>
                      </a:r>
                      <a:r>
                        <a:rPr lang="en-US" altLang="ko-KR" sz="2400" dirty="0">
                          <a:latin typeface="+mn-ea"/>
                          <a:ea typeface="+mn-ea"/>
                        </a:rPr>
                        <a:t>unterminated</a:t>
                      </a:r>
                      <a:r>
                        <a:rPr lang="en-US" altLang="ko-KR" sz="2400" baseline="-25000" dirty="0">
                          <a:latin typeface="+mn-ea"/>
                          <a:ea typeface="+mn-ea"/>
                        </a:rPr>
                        <a:t>s</a:t>
                      </a:r>
                      <a:r>
                        <a:rPr lang="en-US" altLang="ko-KR" sz="2400" dirty="0">
                          <a:latin typeface="+mn-ea"/>
                          <a:ea typeface="+mn-ea"/>
                        </a:rPr>
                        <a:t>comment</a:t>
                      </a:r>
                      <a:r>
                        <a:rPr lang="en-US" altLang="ko-KR" sz="2400" baseline="-250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2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24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154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F20E-BE9F-914D-33F8-307D0B7B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185FAA-D3DC-8F5E-4C6E-43EEE4DC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12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7F6CEC-4F3F-D06A-3CD8-2CAFE4D3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Requirements – Miscellaneous Features (9/9)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040A2F-9972-5D87-25A1-C24C97E4D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2330" y="1033187"/>
            <a:ext cx="10987340" cy="4791625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Your program should work for standard input lines of any length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You may assume that the final line of the standard input stream ends with a newline character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Backslash-newline character sequence does not occur in the standard input stream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Logical lines == physical lines in the standard input stream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You may place all source code in a single file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We suggest using standard C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getchar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 function,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fprintf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 function</a:t>
            </a:r>
          </a:p>
          <a:p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Etc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Please read the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README.md</a:t>
            </a:r>
          </a:p>
        </p:txBody>
      </p:sp>
    </p:spTree>
    <p:extLst>
      <p:ext uri="{BB962C8B-B14F-4D97-AF65-F5344CB8AC3E}">
        <p14:creationId xmlns:p14="http://schemas.microsoft.com/office/powerpoint/2010/main" val="115210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1364-AD05-C2D1-8556-710EEFEC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B2F09B-4CC4-2B29-FAEA-947CCD5F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13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5DB90F7-9E97-268A-B510-B80E1305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Do Your Assignment Step-by-Step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B061B5-DCD7-76E3-BE0F-0FC0512D36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2329" y="1210614"/>
            <a:ext cx="10924263" cy="4614197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Step 1. Design a state transition diagram (dfa.pptx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or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dfa.pdf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or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dfa.jpg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…)</a:t>
            </a:r>
          </a:p>
          <a:p>
            <a:r>
              <a:rPr lang="en-US" altLang="ko-KR" dirty="0">
                <a:latin typeface="+mn-ea"/>
              </a:rPr>
              <a:t>Step 2. Create source code (</a:t>
            </a:r>
            <a:r>
              <a:rPr lang="en-US" altLang="ko-KR" dirty="0" err="1">
                <a:latin typeface="+mn-ea"/>
              </a:rPr>
              <a:t>decomment.c</a:t>
            </a:r>
            <a:r>
              <a:rPr lang="en-US" altLang="ko-KR" dirty="0">
                <a:latin typeface="+mn-ea"/>
              </a:rPr>
              <a:t>)</a:t>
            </a:r>
          </a:p>
          <a:p>
            <a:r>
              <a:rPr lang="en-US" altLang="ko-KR" dirty="0">
                <a:latin typeface="+mn-ea"/>
              </a:rPr>
              <a:t>Step 3. Preprocess, compile, assemble, and link (</a:t>
            </a:r>
            <a:r>
              <a:rPr lang="en-US" altLang="ko-KR" dirty="0" err="1">
                <a:latin typeface="+mn-ea"/>
              </a:rPr>
              <a:t>decomment.i</a:t>
            </a:r>
            <a:r>
              <a:rPr lang="en-US" altLang="ko-KR" dirty="0">
                <a:latin typeface="+mn-ea"/>
              </a:rPr>
              <a:t>, .s, .o)</a:t>
            </a:r>
          </a:p>
          <a:p>
            <a:r>
              <a:rPr lang="en-US" altLang="ko-KR" dirty="0">
                <a:latin typeface="+mn-ea"/>
              </a:rPr>
              <a:t>Step 4. Execute</a:t>
            </a:r>
          </a:p>
          <a:p>
            <a:r>
              <a:rPr lang="en-US" altLang="ko-KR" dirty="0">
                <a:latin typeface="+mn-ea"/>
              </a:rPr>
              <a:t>Step 5. Create a readme file (without filename extension)</a:t>
            </a:r>
          </a:p>
          <a:p>
            <a:r>
              <a:rPr lang="en-US" altLang="ko-KR" dirty="0">
                <a:latin typeface="+mn-ea"/>
              </a:rPr>
              <a:t>…</a:t>
            </a:r>
          </a:p>
          <a:p>
            <a:r>
              <a:rPr lang="en-US" altLang="ko-KR" dirty="0">
                <a:latin typeface="+mn-ea"/>
              </a:rPr>
              <a:t>Please refer to the </a:t>
            </a:r>
            <a:r>
              <a:rPr lang="en-US" altLang="ko-KR" dirty="0" err="1">
                <a:latin typeface="+mn-ea"/>
              </a:rPr>
              <a:t>README.md’s</a:t>
            </a:r>
            <a:r>
              <a:rPr lang="en-US" altLang="ko-KR" dirty="0">
                <a:latin typeface="+mn-ea"/>
              </a:rPr>
              <a:t> “Logistics” part!</a:t>
            </a:r>
          </a:p>
        </p:txBody>
      </p:sp>
    </p:spTree>
    <p:extLst>
      <p:ext uri="{BB962C8B-B14F-4D97-AF65-F5344CB8AC3E}">
        <p14:creationId xmlns:p14="http://schemas.microsoft.com/office/powerpoint/2010/main" val="4170909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B01F-FFD6-BD69-8AE0-36AE0DE7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BF7948-79ED-3972-B9AA-2379FF4F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14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5B5E57B-2F57-4BF0-A486-EEFC527A5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How to Test Your Code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D7D713-E76A-482A-EFD3-7B58B588AF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2329" y="1210614"/>
            <a:ext cx="10924263" cy="4614197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“assignment1/reference/” directory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Sample executable file (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sampledecomment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 is located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“</a:t>
            </a:r>
            <a:r>
              <a:rPr lang="en-US" altLang="ko-KR" dirty="0">
                <a:latin typeface="+mn-ea"/>
              </a:rPr>
              <a:t>assignment1 /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test_files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/” directory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latin typeface="+mn-ea"/>
              </a:rPr>
              <a:t>Sample test*.c files are located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“diff” command: Check differences between two files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Here is an example:</a:t>
            </a:r>
          </a:p>
          <a:p>
            <a:pPr lvl="1"/>
            <a:r>
              <a:rPr lang="en-US" altLang="ko-KR" dirty="0">
                <a:latin typeface="+mn-ea"/>
              </a:rPr>
              <a:t>./</a:t>
            </a:r>
            <a:r>
              <a:rPr lang="en-US" altLang="ko-KR" dirty="0" err="1">
                <a:latin typeface="+mn-ea"/>
              </a:rPr>
              <a:t>sampledecomment</a:t>
            </a:r>
            <a:r>
              <a:rPr lang="en-US" altLang="ko-KR" dirty="0">
                <a:latin typeface="+mn-ea"/>
              </a:rPr>
              <a:t> &lt; </a:t>
            </a:r>
            <a:r>
              <a:rPr lang="en-US" altLang="ko-KR" dirty="0" err="1">
                <a:latin typeface="+mn-ea"/>
              </a:rPr>
              <a:t>decomment.c</a:t>
            </a:r>
            <a:r>
              <a:rPr lang="en-US" altLang="ko-KR" dirty="0">
                <a:latin typeface="+mn-ea"/>
              </a:rPr>
              <a:t> &gt; output1 2&gt; errors1</a:t>
            </a:r>
          </a:p>
          <a:p>
            <a:pPr lvl="1"/>
            <a:r>
              <a:rPr lang="en-US" altLang="ko-KR" dirty="0">
                <a:latin typeface="+mn-ea"/>
              </a:rPr>
              <a:t>./decomment &lt; </a:t>
            </a:r>
            <a:r>
              <a:rPr lang="en-US" altLang="ko-KR" dirty="0" err="1">
                <a:latin typeface="+mn-ea"/>
              </a:rPr>
              <a:t>decomment.c</a:t>
            </a:r>
            <a:r>
              <a:rPr lang="en-US" altLang="ko-KR" dirty="0">
                <a:latin typeface="+mn-ea"/>
              </a:rPr>
              <a:t> &gt; output2 2&gt; errors2</a:t>
            </a:r>
          </a:p>
          <a:p>
            <a:pPr lvl="1"/>
            <a:r>
              <a:rPr lang="en-US" altLang="ko-KR" dirty="0">
                <a:latin typeface="+mn-ea"/>
              </a:rPr>
              <a:t>diff -c output1 output2</a:t>
            </a:r>
          </a:p>
          <a:p>
            <a:pPr lvl="1"/>
            <a:r>
              <a:rPr lang="en-US" altLang="ko-KR" dirty="0">
                <a:latin typeface="+mn-ea"/>
              </a:rPr>
              <a:t>diff -c errors1 errors2</a:t>
            </a:r>
          </a:p>
          <a:p>
            <a:pPr lvl="1"/>
            <a:r>
              <a:rPr lang="en-US" altLang="ko-KR" dirty="0">
                <a:latin typeface="+mn-ea"/>
              </a:rPr>
              <a:t>rm output1 errors1 output2 errors2</a:t>
            </a:r>
          </a:p>
        </p:txBody>
      </p:sp>
    </p:spTree>
    <p:extLst>
      <p:ext uri="{BB962C8B-B14F-4D97-AF65-F5344CB8AC3E}">
        <p14:creationId xmlns:p14="http://schemas.microsoft.com/office/powerpoint/2010/main" val="1030049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96997-C716-E776-0A44-7270E1F0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5B2D57C-DB97-40B1-6B3B-5816EE1EF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-</a:t>
            </a:r>
            <a:fld id="{3D16D23B-24D6-455E-BBD7-6975BEA16FD4}" type="slidenum">
              <a:rPr lang="ko-KR" altLang="en-US" smtClean="0">
                <a:latin typeface="+mn-ea"/>
                <a:ea typeface="+mn-ea"/>
              </a:rPr>
              <a:pPr/>
              <a:t>15</a:t>
            </a:fld>
            <a:r>
              <a:rPr lang="en-US" altLang="ko-KR" dirty="0">
                <a:latin typeface="+mn-ea"/>
                <a:ea typeface="+mn-ea"/>
              </a:rPr>
              <a:t>-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927A1A-20A0-33F1-9893-65DFD53A9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Submit Format (1/2)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0F4CF1-C906-E3AB-A423-35EA834C00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276" y="4087739"/>
            <a:ext cx="11343447" cy="1761599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Please set </a:t>
            </a:r>
            <a:r>
              <a:rPr lang="en-US" altLang="ko-KR" b="1" dirty="0">
                <a:latin typeface="+mn-ea"/>
              </a:rPr>
              <a:t>files and directory’s names</a:t>
            </a:r>
            <a:r>
              <a:rPr lang="en-US" altLang="ko-KR" dirty="0">
                <a:latin typeface="+mn-ea"/>
              </a:rPr>
              <a:t> to match the examples above</a:t>
            </a:r>
          </a:p>
          <a:p>
            <a:r>
              <a:rPr lang="en-US" altLang="ko-KR" dirty="0">
                <a:latin typeface="+mn-ea"/>
              </a:rPr>
              <a:t>Please place all source code in a </a:t>
            </a:r>
            <a:r>
              <a:rPr lang="en-US" altLang="ko-KR" b="1" dirty="0">
                <a:latin typeface="+mn-ea"/>
              </a:rPr>
              <a:t>single file</a:t>
            </a:r>
          </a:p>
          <a:p>
            <a:r>
              <a:rPr lang="en-US" altLang="ko-KR" dirty="0">
                <a:latin typeface="+mn-ea"/>
              </a:rPr>
              <a:t>Structure files and directories as shown above, then proceed with </a:t>
            </a:r>
            <a:r>
              <a:rPr lang="en-US" altLang="ko-KR" b="1" dirty="0">
                <a:latin typeface="+mn-ea"/>
              </a:rPr>
              <a:t>compression</a:t>
            </a:r>
          </a:p>
          <a:p>
            <a:r>
              <a:rPr lang="en-US" altLang="ko-KR" b="1" dirty="0">
                <a:solidFill>
                  <a:srgbClr val="FF0000"/>
                </a:solidFill>
                <a:latin typeface="+mn-ea"/>
              </a:rPr>
              <a:t>Deadline: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~3.20</a:t>
            </a:r>
            <a:r>
              <a:rPr lang="ko-KR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+mn-ea"/>
              </a:rPr>
              <a:t>21:00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EED83A-41D2-6417-61F8-43ECF70F91EC}"/>
              </a:ext>
            </a:extLst>
          </p:cNvPr>
          <p:cNvSpPr txBox="1"/>
          <p:nvPr/>
        </p:nvSpPr>
        <p:spPr>
          <a:xfrm>
            <a:off x="391886" y="1008661"/>
            <a:ext cx="57041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n-ea"/>
              </a:rPr>
              <a:t>Structure of directory:</a:t>
            </a:r>
          </a:p>
          <a:p>
            <a:r>
              <a:rPr lang="en-US" altLang="ko-KR" sz="2000" dirty="0">
                <a:latin typeface="+mn-ea"/>
              </a:rPr>
              <a:t>YourID_assign1</a:t>
            </a:r>
          </a:p>
          <a:p>
            <a:r>
              <a:rPr lang="en-US" altLang="ko-KR" sz="2000" dirty="0">
                <a:latin typeface="+mn-ea"/>
              </a:rPr>
              <a:t>  |-</a:t>
            </a:r>
            <a:r>
              <a:rPr lang="en-US" altLang="ko-KR" sz="2000" dirty="0" err="1">
                <a:latin typeface="+mn-ea"/>
              </a:rPr>
              <a:t>decomment.c</a:t>
            </a:r>
            <a:r>
              <a:rPr lang="en-US" altLang="ko-KR" sz="2000" dirty="0">
                <a:latin typeface="+mn-ea"/>
              </a:rPr>
              <a:t> (source file)</a:t>
            </a:r>
          </a:p>
          <a:p>
            <a:r>
              <a:rPr lang="en-US" altLang="ko-KR" sz="2000" dirty="0">
                <a:latin typeface="+mn-ea"/>
              </a:rPr>
              <a:t>  |-</a:t>
            </a:r>
            <a:r>
              <a:rPr lang="en-US" altLang="ko-KR" sz="2000" dirty="0" err="1">
                <a:latin typeface="+mn-ea"/>
              </a:rPr>
              <a:t>decomment.i</a:t>
            </a:r>
            <a:r>
              <a:rPr lang="en-US" altLang="ko-KR" sz="2000" dirty="0">
                <a:latin typeface="+mn-ea"/>
              </a:rPr>
              <a:t> (preprocessed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file)</a:t>
            </a:r>
          </a:p>
          <a:p>
            <a:r>
              <a:rPr lang="en-US" altLang="ko-KR" sz="2000" dirty="0">
                <a:latin typeface="+mn-ea"/>
              </a:rPr>
              <a:t>  |-</a:t>
            </a:r>
            <a:r>
              <a:rPr lang="en-US" altLang="ko-KR" sz="2000" dirty="0" err="1">
                <a:latin typeface="+mn-ea"/>
              </a:rPr>
              <a:t>decomment.s</a:t>
            </a:r>
            <a:r>
              <a:rPr lang="en-US" altLang="ko-KR" sz="2000" dirty="0">
                <a:latin typeface="+mn-ea"/>
              </a:rPr>
              <a:t> (assembly file)</a:t>
            </a:r>
          </a:p>
          <a:p>
            <a:r>
              <a:rPr lang="en-US" altLang="ko-KR" sz="2000" dirty="0">
                <a:latin typeface="+mn-ea"/>
              </a:rPr>
              <a:t>  |-</a:t>
            </a:r>
            <a:r>
              <a:rPr lang="en-US" altLang="ko-KR" sz="2000" dirty="0" err="1">
                <a:latin typeface="+mn-ea"/>
              </a:rPr>
              <a:t>decomment.o</a:t>
            </a:r>
            <a:r>
              <a:rPr lang="en-US" altLang="ko-KR" sz="2000" dirty="0">
                <a:latin typeface="+mn-ea"/>
              </a:rPr>
              <a:t> (object file)</a:t>
            </a:r>
          </a:p>
          <a:p>
            <a:r>
              <a:rPr lang="en-US" altLang="ko-KR" sz="2000" dirty="0">
                <a:latin typeface="+mn-ea"/>
              </a:rPr>
              <a:t>  |-readme</a:t>
            </a:r>
          </a:p>
          <a:p>
            <a:r>
              <a:rPr lang="en-US" altLang="ko-KR" sz="2000" dirty="0">
                <a:latin typeface="+mn-ea"/>
              </a:rPr>
              <a:t>  `-dfa.pptx or dfa.pdf or dfa.jpg …</a:t>
            </a:r>
            <a:endParaRPr lang="ko-KR" altLang="en-US" sz="20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DCA963-5871-E56D-3C15-31B9438A8803}"/>
              </a:ext>
            </a:extLst>
          </p:cNvPr>
          <p:cNvSpPr txBox="1"/>
          <p:nvPr/>
        </p:nvSpPr>
        <p:spPr>
          <a:xfrm>
            <a:off x="5885556" y="1008662"/>
            <a:ext cx="57041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n-ea"/>
              </a:rPr>
              <a:t>Example:</a:t>
            </a:r>
          </a:p>
          <a:p>
            <a:r>
              <a:rPr lang="en-US" altLang="ko-KR" sz="2000" dirty="0">
                <a:latin typeface="+mn-ea"/>
              </a:rPr>
              <a:t>202500000_assign1</a:t>
            </a:r>
          </a:p>
          <a:p>
            <a:r>
              <a:rPr lang="en-US" altLang="ko-KR" sz="2000" dirty="0">
                <a:latin typeface="+mn-ea"/>
              </a:rPr>
              <a:t>  |-</a:t>
            </a:r>
            <a:r>
              <a:rPr lang="en-US" altLang="ko-KR" sz="2000" dirty="0" err="1">
                <a:latin typeface="+mn-ea"/>
              </a:rPr>
              <a:t>decomment.c</a:t>
            </a:r>
            <a:r>
              <a:rPr lang="en-US" altLang="ko-KR" sz="2000" dirty="0">
                <a:latin typeface="+mn-ea"/>
              </a:rPr>
              <a:t> (source file)</a:t>
            </a:r>
          </a:p>
          <a:p>
            <a:r>
              <a:rPr lang="en-US" altLang="ko-KR" sz="2000" dirty="0">
                <a:latin typeface="+mn-ea"/>
              </a:rPr>
              <a:t>  |-</a:t>
            </a:r>
            <a:r>
              <a:rPr lang="en-US" altLang="ko-KR" sz="2000" dirty="0" err="1">
                <a:latin typeface="+mn-ea"/>
              </a:rPr>
              <a:t>decomment.i</a:t>
            </a:r>
            <a:r>
              <a:rPr lang="en-US" altLang="ko-KR" sz="2000" dirty="0">
                <a:latin typeface="+mn-ea"/>
              </a:rPr>
              <a:t> (preprocessed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file)</a:t>
            </a:r>
          </a:p>
          <a:p>
            <a:r>
              <a:rPr lang="en-US" altLang="ko-KR" sz="2000" dirty="0">
                <a:latin typeface="+mn-ea"/>
              </a:rPr>
              <a:t>  |-</a:t>
            </a:r>
            <a:r>
              <a:rPr lang="en-US" altLang="ko-KR" sz="2000" dirty="0" err="1">
                <a:latin typeface="+mn-ea"/>
              </a:rPr>
              <a:t>decomment.s</a:t>
            </a:r>
            <a:r>
              <a:rPr lang="en-US" altLang="ko-KR" sz="2000" dirty="0">
                <a:latin typeface="+mn-ea"/>
              </a:rPr>
              <a:t> (assembly file)</a:t>
            </a:r>
          </a:p>
          <a:p>
            <a:r>
              <a:rPr lang="en-US" altLang="ko-KR" sz="2000" dirty="0">
                <a:latin typeface="+mn-ea"/>
              </a:rPr>
              <a:t>  |-</a:t>
            </a:r>
            <a:r>
              <a:rPr lang="en-US" altLang="ko-KR" sz="2000" dirty="0" err="1">
                <a:latin typeface="+mn-ea"/>
              </a:rPr>
              <a:t>decomment.o</a:t>
            </a:r>
            <a:r>
              <a:rPr lang="en-US" altLang="ko-KR" sz="2000" dirty="0">
                <a:latin typeface="+mn-ea"/>
              </a:rPr>
              <a:t> (object file)</a:t>
            </a:r>
          </a:p>
          <a:p>
            <a:r>
              <a:rPr lang="en-US" altLang="ko-KR" sz="2000" dirty="0">
                <a:latin typeface="+mn-ea"/>
              </a:rPr>
              <a:t>  |-readme</a:t>
            </a:r>
          </a:p>
          <a:p>
            <a:r>
              <a:rPr lang="en-US" altLang="ko-KR" sz="2000" dirty="0">
                <a:latin typeface="+mn-ea"/>
              </a:rPr>
              <a:t>  `-dfa.pptx or dfa.pdf or dfa.jpg …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252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EC221-87FF-F068-AFAA-4B336F78E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A42115-7FF5-1C4D-7ACB-6E7F9259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16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28E9F14-0353-203F-2498-4327EB7D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Submit Format (2/2)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642CED-AABA-2172-E1FE-0CC19157A2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2330" y="1223494"/>
            <a:ext cx="10987340" cy="4601318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Helpful commands</a:t>
            </a:r>
          </a:p>
          <a:p>
            <a:pPr lvl="1"/>
            <a:r>
              <a:rPr lang="en-US" altLang="ko-KR" dirty="0" err="1">
                <a:latin typeface="+mn-ea"/>
              </a:rPr>
              <a:t>mkdir</a:t>
            </a:r>
            <a:r>
              <a:rPr lang="en-US" altLang="ko-KR" dirty="0">
                <a:latin typeface="+mn-ea"/>
              </a:rPr>
              <a:t> 202500000_assign1</a:t>
            </a:r>
          </a:p>
          <a:p>
            <a:pPr lvl="1"/>
            <a:r>
              <a:rPr lang="en-US" altLang="ko-KR" dirty="0">
                <a:latin typeface="+mn-ea"/>
              </a:rPr>
              <a:t>mv readme dfa.pptx 202500000_assign1</a:t>
            </a:r>
          </a:p>
          <a:p>
            <a:pPr lvl="1"/>
            <a:r>
              <a:rPr lang="en-US" altLang="ko-KR" dirty="0">
                <a:latin typeface="+mn-ea"/>
              </a:rPr>
              <a:t>mv </a:t>
            </a:r>
            <a:r>
              <a:rPr lang="en-US" altLang="ko-KR" dirty="0" err="1">
                <a:latin typeface="+mn-ea"/>
              </a:rPr>
              <a:t>decomment.c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decomment.i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decomment.s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decomment.o</a:t>
            </a:r>
            <a:r>
              <a:rPr lang="en-US" altLang="ko-KR" dirty="0">
                <a:latin typeface="+mn-ea"/>
              </a:rPr>
              <a:t> 202500000_assign1</a:t>
            </a:r>
          </a:p>
          <a:p>
            <a:pPr lvl="1"/>
            <a:r>
              <a:rPr lang="en-US" altLang="ko-KR" dirty="0">
                <a:latin typeface="+mn-ea"/>
              </a:rPr>
              <a:t>tar </a:t>
            </a:r>
            <a:r>
              <a:rPr lang="en-US" altLang="ko-KR" dirty="0" err="1">
                <a:latin typeface="+mn-ea"/>
              </a:rPr>
              <a:t>zcf</a:t>
            </a:r>
            <a:r>
              <a:rPr lang="en-US" altLang="ko-KR" dirty="0">
                <a:latin typeface="+mn-ea"/>
              </a:rPr>
              <a:t> 202500000_assign1.tar.gz 202500000_assign1</a:t>
            </a:r>
          </a:p>
          <a:p>
            <a:r>
              <a:rPr lang="en-US" altLang="ko-KR" dirty="0">
                <a:solidFill>
                  <a:schemeClr val="tx1"/>
                </a:solidFill>
                <a:latin typeface="+mn-ea"/>
              </a:rPr>
              <a:t>Submit to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Classum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submission page</a:t>
            </a:r>
          </a:p>
        </p:txBody>
      </p:sp>
    </p:spTree>
    <p:extLst>
      <p:ext uri="{BB962C8B-B14F-4D97-AF65-F5344CB8AC3E}">
        <p14:creationId xmlns:p14="http://schemas.microsoft.com/office/powerpoint/2010/main" val="302853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0735-2786-965A-49C5-FF432A41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2994F0-691B-E656-5116-982AC736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17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AFB2D6-52B5-261A-F310-936A59DB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73474"/>
            <a:ext cx="11553891" cy="573577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Grading</a:t>
            </a:r>
            <a:endParaRPr lang="ko-KR" altLang="en-US" dirty="0">
              <a:latin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8B8E5C-C03F-5224-DBE8-1528CECFB9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2330" y="953037"/>
            <a:ext cx="10987340" cy="5112912"/>
          </a:xfrm>
        </p:spPr>
        <p:txBody>
          <a:bodyPr/>
          <a:lstStyle/>
          <a:p>
            <a:r>
              <a:rPr lang="en-US" altLang="ko-KR" dirty="0" err="1">
                <a:latin typeface="+mn-ea"/>
              </a:rPr>
              <a:t>Sumbission</a:t>
            </a:r>
            <a:r>
              <a:rPr lang="en-US" altLang="ko-KR" dirty="0">
                <a:latin typeface="+mn-ea"/>
              </a:rPr>
              <a:t> format (Penalty for non-compliance)</a:t>
            </a:r>
          </a:p>
          <a:p>
            <a:r>
              <a:rPr lang="en-US" altLang="ko-KR" dirty="0">
                <a:latin typeface="+mn-ea"/>
              </a:rPr>
              <a:t>From the user’s point of view: Correct functioning of the program</a:t>
            </a:r>
          </a:p>
          <a:p>
            <a:r>
              <a:rPr lang="en-US" altLang="ko-KR" dirty="0">
                <a:latin typeface="+mn-ea"/>
              </a:rPr>
              <a:t>From the programmer’s point of view: </a:t>
            </a:r>
          </a:p>
          <a:p>
            <a:pPr lvl="1"/>
            <a:r>
              <a:rPr lang="en-US" altLang="ko-KR" dirty="0">
                <a:latin typeface="+mn-ea"/>
              </a:rPr>
              <a:t>A program has quality if it is well styled and thereby easy to maintain</a:t>
            </a:r>
          </a:p>
          <a:p>
            <a:pPr lvl="1"/>
            <a:r>
              <a:rPr lang="en-US" altLang="ko-KR" dirty="0">
                <a:latin typeface="+mn-ea"/>
              </a:rPr>
              <a:t>Here are the examples:</a:t>
            </a:r>
          </a:p>
          <a:p>
            <a:pPr lvl="1"/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1. </a:t>
            </a:r>
            <a:r>
              <a:rPr lang="en-US" altLang="ko-KR" b="1" dirty="0">
                <a:latin typeface="+mn-ea"/>
              </a:rPr>
              <a:t>Names</a:t>
            </a:r>
            <a:r>
              <a:rPr lang="en-US" altLang="ko-KR" dirty="0">
                <a:latin typeface="+mn-ea"/>
              </a:rPr>
              <a:t>: Clear and consistent style for variable and function names</a:t>
            </a:r>
          </a:p>
          <a:p>
            <a:pPr lvl="1"/>
            <a:r>
              <a:rPr lang="en-US" altLang="ko-KR" dirty="0">
                <a:latin typeface="+mn-ea"/>
              </a:rPr>
              <a:t>2. </a:t>
            </a:r>
            <a:r>
              <a:rPr lang="en-US" altLang="ko-KR" b="1" dirty="0">
                <a:latin typeface="+mn-ea"/>
              </a:rPr>
              <a:t>Comments</a:t>
            </a:r>
            <a:r>
              <a:rPr lang="en-US" altLang="ko-KR" dirty="0">
                <a:latin typeface="+mn-ea"/>
              </a:rPr>
              <a:t>: Each function should begin with a comment that describes what the function does from the point of view of the caller</a:t>
            </a:r>
          </a:p>
          <a:p>
            <a:pPr lvl="1"/>
            <a:r>
              <a:rPr lang="en-US" altLang="ko-KR" dirty="0">
                <a:latin typeface="+mn-ea"/>
              </a:rPr>
              <a:t>3. </a:t>
            </a:r>
            <a:r>
              <a:rPr lang="en-US" altLang="ko-KR" b="1" dirty="0">
                <a:latin typeface="+mn-ea"/>
              </a:rPr>
              <a:t>Function modularity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(most important)</a:t>
            </a:r>
            <a:r>
              <a:rPr lang="en-US" altLang="ko-KR" dirty="0">
                <a:latin typeface="+mn-ea"/>
              </a:rPr>
              <a:t>: Your program should not consist of one large main function, instead your program should consist of multiple small functions</a:t>
            </a:r>
          </a:p>
          <a:p>
            <a:pPr lvl="1"/>
            <a:r>
              <a:rPr lang="en-US" altLang="ko-KR" dirty="0">
                <a:latin typeface="+mn-ea"/>
              </a:rPr>
              <a:t>4. </a:t>
            </a:r>
            <a:r>
              <a:rPr lang="en-US" altLang="ko-KR" b="1" dirty="0">
                <a:latin typeface="+mn-ea"/>
              </a:rPr>
              <a:t>Line lengths</a:t>
            </a:r>
            <a:r>
              <a:rPr lang="en-US" altLang="ko-KR" dirty="0">
                <a:latin typeface="+mn-ea"/>
              </a:rPr>
              <a:t>: Limit line lengths in your source code to 72 characters (for better readability)</a:t>
            </a:r>
          </a:p>
          <a:p>
            <a:pPr lvl="1"/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417894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파랑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사용자 지정 3">
      <a:majorFont>
        <a:latin typeface="Bahnschrift"/>
        <a:ea typeface="나눔바른고딕"/>
        <a:cs typeface=""/>
      </a:majorFont>
      <a:minorFont>
        <a:latin typeface="Bahnschrift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net-template.pptx" id="{D2BCF9EA-E672-49E9-A1F5-3066AC9DB076}" vid="{B90D234C-54AF-40C6-AFBB-1CBF604319A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13A780F21B7B348A6680E3144BFCE9C" ma:contentTypeVersion="15" ma:contentTypeDescription="새 문서를 만듭니다." ma:contentTypeScope="" ma:versionID="315e2f9321505756d7459e9716ab0625">
  <xsd:schema xmlns:xsd="http://www.w3.org/2001/XMLSchema" xmlns:xs="http://www.w3.org/2001/XMLSchema" xmlns:p="http://schemas.microsoft.com/office/2006/metadata/properties" xmlns:ns3="98ea1fc7-f953-4aaa-91ec-cf6845fb1fba" xmlns:ns4="8f55a661-4739-4359-9e39-c48271756d25" targetNamespace="http://schemas.microsoft.com/office/2006/metadata/properties" ma:root="true" ma:fieldsID="63fa1282b343a602878bac01e3784c2e" ns3:_="" ns4:_="">
    <xsd:import namespace="98ea1fc7-f953-4aaa-91ec-cf6845fb1fba"/>
    <xsd:import namespace="8f55a661-4739-4359-9e39-c48271756d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a1fc7-f953-4aaa-91ec-cf6845fb1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5a661-4739-4359-9e39-c48271756d25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ea1fc7-f953-4aaa-91ec-cf6845fb1fba" xsi:nil="true"/>
  </documentManagement>
</p:properties>
</file>

<file path=customXml/itemProps1.xml><?xml version="1.0" encoding="utf-8"?>
<ds:datastoreItem xmlns:ds="http://schemas.openxmlformats.org/officeDocument/2006/customXml" ds:itemID="{CFB9C563-80BA-4656-AA06-19BE6CDBBC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ea1fc7-f953-4aaa-91ec-cf6845fb1fba"/>
    <ds:schemaRef ds:uri="8f55a661-4739-4359-9e39-c48271756d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69A468-826F-49B5-9C90-6FF5D0BE2C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632342-8CCD-455F-9EC4-BDE933B82809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8f55a661-4739-4359-9e39-c48271756d25"/>
    <ds:schemaRef ds:uri="http://purl.org/dc/terms/"/>
    <ds:schemaRef ds:uri="http://schemas.microsoft.com/office/infopath/2007/PartnerControls"/>
    <ds:schemaRef ds:uri="98ea1fc7-f953-4aaa-91ec-cf6845fb1fba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tnet-template</Template>
  <TotalTime>12525</TotalTime>
  <Words>1345</Words>
  <Application>Microsoft Office PowerPoint</Application>
  <PresentationFormat>와이드스크린</PresentationFormat>
  <Paragraphs>219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Courier New</vt:lpstr>
      <vt:lpstr>나눔바른고딕</vt:lpstr>
      <vt:lpstr>Bahnschrift</vt:lpstr>
      <vt:lpstr>Wingdings</vt:lpstr>
      <vt:lpstr>Bahnschrift Light</vt:lpstr>
      <vt:lpstr>맑은 고딕</vt:lpstr>
      <vt:lpstr>Arial</vt:lpstr>
      <vt:lpstr>1_Office 테마</vt:lpstr>
      <vt:lpstr>Lab 1. Decommenter System Programming Assignment</vt:lpstr>
      <vt:lpstr>What Is Decommenter</vt:lpstr>
      <vt:lpstr>Usage Instructions for Decommenter</vt:lpstr>
      <vt:lpstr>Requirements – Replace Each Comment with a Space (1/9)</vt:lpstr>
      <vt:lpstr>Requirements – Support Both Types of Comments (2/9)</vt:lpstr>
      <vt:lpstr>Requirements – Comments within Comments(3/9)</vt:lpstr>
      <vt:lpstr>Requirements – Exceptions: Comment in Str or Char Const (4/9)</vt:lpstr>
      <vt:lpstr>Requirements – Handle ‘\’ as the ordinary characters (5/9)</vt:lpstr>
      <vt:lpstr>Requirements – Newline Characters in Str or Char Const (6/9)</vt:lpstr>
      <vt:lpstr>Requirements – Handle Unterminated Str and Char Const (7/9)</vt:lpstr>
      <vt:lpstr>Requirements – Error: EOF Before a Comment Is Terminated (8/9)</vt:lpstr>
      <vt:lpstr>Requirements – Miscellaneous Features (9/9)</vt:lpstr>
      <vt:lpstr>Do Your Assignment Step-by-Step</vt:lpstr>
      <vt:lpstr>How to Test Your Code</vt:lpstr>
      <vt:lpstr>Submit Format (1/2)</vt:lpstr>
      <vt:lpstr>Submit Format (2/2)</vt:lpstr>
      <vt:lpstr>Grading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 AI 2024: Accelerating GNN from the Perspective of Computer System</dc:title>
  <dc:creator>Seongjong Bae</dc:creator>
  <cp:lastModifiedBy>Seongjong Bae</cp:lastModifiedBy>
  <cp:revision>1294</cp:revision>
  <dcterms:created xsi:type="dcterms:W3CDTF">2024-06-13T02:16:16Z</dcterms:created>
  <dcterms:modified xsi:type="dcterms:W3CDTF">2025-03-07T05:43:53Z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0x010100B13A780F21B7B348A6680E3144BFCE9C</vt:lpwstr>
  </property>
</Properties>
</file>